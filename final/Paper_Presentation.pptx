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Libre Franklin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ibreFranklin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LibreFranklin-italic.fntdata"/><Relationship Id="rId10" Type="http://schemas.openxmlformats.org/officeDocument/2006/relationships/slide" Target="slides/slide5.xml"/><Relationship Id="rId32" Type="http://schemas.openxmlformats.org/officeDocument/2006/relationships/font" Target="fonts/LibreFranklin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ibreFranklin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12034f21b_0_0:notes"/>
          <p:cNvSpPr/>
          <p:nvPr>
            <p:ph idx="2" type="sldImg"/>
          </p:nvPr>
        </p:nvSpPr>
        <p:spPr>
          <a:xfrm>
            <a:off x="430610" y="686405"/>
            <a:ext cx="59967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2812034f21b_0_0:notes"/>
          <p:cNvSpPr txBox="1"/>
          <p:nvPr>
            <p:ph idx="1" type="body"/>
          </p:nvPr>
        </p:nvSpPr>
        <p:spPr>
          <a:xfrm>
            <a:off x="685801" y="4343402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59" name="Google Shape;59;g2812034f21b_0_0:notes"/>
          <p:cNvSpPr txBox="1"/>
          <p:nvPr>
            <p:ph idx="12" type="sldNum"/>
          </p:nvPr>
        </p:nvSpPr>
        <p:spPr>
          <a:xfrm>
            <a:off x="3884615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4650" lIns="89300" spcFirstLastPara="1" rIns="89300" wrap="square" tIns="446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zh-TW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12034f21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2812034f21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8131678d10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28131678d10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8131678d10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28131678d10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8131678d10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28131678d10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8131678d10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28131678d10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131678d10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28131678d10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f3f89248a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2f3f89248a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3f89248a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2f3f89248a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8131678d1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8131678d1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8131678d1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28131678d1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/>
              <a:t>Look at the top right of this slide.</a:t>
            </a:r>
            <a:br>
              <a:rPr lang="zh-TW"/>
            </a:br>
            <a:r>
              <a:rPr lang="zh-TW"/>
              <a:t>The two kernel’s meaning is calculate the mean of diagonal and antidiagonal.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8131678d1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28131678d1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8131678d1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28131678d1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/>
              <a:t>In the later slide i will talk deeper in this to function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/>
              <a:t>The folloowing two loss are the component of loss function: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/>
              <a:t>1.Residual loss:To fit the noise rather than the image itself,this is the function of residual loss.I will explain this function in more detail later.</a:t>
            </a:r>
            <a:br>
              <a:rPr lang="zh-TW"/>
            </a:br>
            <a:r>
              <a:rPr lang="zh-TW"/>
              <a:t>3.Consistency loss: make sure you denoise a image y and do downsampling is the same as you do downsampling first and then you do the denoise process.</a:t>
            </a:r>
            <a:br>
              <a:rPr lang="zh-TW"/>
            </a:br>
            <a:r>
              <a:rPr lang="zh-TW"/>
              <a:t>The order of your step will not influence your final result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8131678d1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8131678d1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 hope the result after D1(y)minusf(D1(y)) as close as the other one of images downsampler, In this case R1 should as close as D2(y)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likewise D2(y) minus f(D2(y)) is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/>
            </a:br>
            <a:r>
              <a:rPr lang="zh-TW"/>
              <a:t>To ensure the symmetric property, the loss function adds the two parts together and takes the mean of their sum.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8131678d1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8131678d1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pass a noisy image y pass it through the model and you can get the noise distribution of the y which called f(y) and you do downsampler to get D1(f(y)) and D2(f(y))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and calculate the loss of the f(D1(y)) </a:t>
            </a:r>
            <a:r>
              <a:rPr lang="zh-TW"/>
              <a:t>and f(D2(y)) which i methoned in previous slide.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This is in order to calculate the consistency loss. The main goal of the consistency loss 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 ensure that performing the downsampler first or the denoise first makes no difference to the result.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8131678d10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8131678d1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/>
              <a:t>first,you put a noisy image y. pass it to neural network to get the f(y)  and do y minus f(y) to get the denoise image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812034f21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812034f21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/>
              <a:t>This is the main experiments of this paper. This show the performance between different kind of zero shot method , including DIP S2S BM3D under different kind of noise enviornment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/>
              <a:t>1.As the noise level increase, we can see that the blue curve </a:t>
            </a:r>
            <a:r>
              <a:rPr lang="zh-TW"/>
              <a:t>decrease</a:t>
            </a:r>
            <a:r>
              <a:rPr lang="zh-TW"/>
              <a:t> more soomth.We also can see this result in poisson distribution noise,espacilly in lower noise level</a:t>
            </a:r>
            <a:br>
              <a:rPr lang="zh-TW"/>
            </a:br>
            <a:r>
              <a:rPr lang="zh-TW"/>
              <a:t>2.The computation </a:t>
            </a:r>
            <a:r>
              <a:rPr lang="zh-TW"/>
              <a:t>efficiency</a:t>
            </a:r>
            <a:r>
              <a:rPr lang="zh-TW"/>
              <a:t> of ZS N2N is more </a:t>
            </a:r>
            <a:r>
              <a:rPr lang="zh-TW"/>
              <a:t>efficient</a:t>
            </a:r>
            <a:r>
              <a:rPr lang="zh-TW"/>
              <a:t> than the other method, because it use the 20K parameters network as the model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812034f21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812034f21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/>
              <a:t>This method has the following advantage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812034f21b_0_167:notes"/>
          <p:cNvSpPr/>
          <p:nvPr>
            <p:ph idx="2" type="sldImg"/>
          </p:nvPr>
        </p:nvSpPr>
        <p:spPr>
          <a:xfrm>
            <a:off x="430610" y="686405"/>
            <a:ext cx="59967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2812034f21b_0_167:notes"/>
          <p:cNvSpPr txBox="1"/>
          <p:nvPr>
            <p:ph idx="1" type="body"/>
          </p:nvPr>
        </p:nvSpPr>
        <p:spPr>
          <a:xfrm>
            <a:off x="685801" y="4343402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71" name="Google Shape;271;g2812034f21b_0_167:notes"/>
          <p:cNvSpPr txBox="1"/>
          <p:nvPr>
            <p:ph idx="12" type="sldNum"/>
          </p:nvPr>
        </p:nvSpPr>
        <p:spPr>
          <a:xfrm>
            <a:off x="3884615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4650" lIns="89300" spcFirstLastPara="1" rIns="89300" wrap="square" tIns="446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zh-TW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813a67f2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2813a67f2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812034f21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2812034f21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812034f21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2812034f21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812034f21b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2812034f21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8131678d10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28131678d10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812034f21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2812034f21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00" spcFirstLastPara="1" rIns="89300" wrap="square" tIns="44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標題投影片">
  <p:cSld name="1_標題投影片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179512" y="983177"/>
            <a:ext cx="88569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3600"/>
              <a:buFont typeface="Libre Franklin"/>
              <a:buNone/>
              <a:defRPr b="0" sz="3600">
                <a:solidFill>
                  <a:srgbClr val="003399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2347664" y="2193708"/>
            <a:ext cx="42405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  <a:defRPr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rtl="0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  <a:defRPr>
                <a:solidFill>
                  <a:srgbClr val="888888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>
                <a:solidFill>
                  <a:srgbClr val="888888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  <a:defRPr>
                <a:solidFill>
                  <a:srgbClr val="888888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  <a:defRPr>
                <a:solidFill>
                  <a:srgbClr val="888888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  <a:defRPr>
                <a:solidFill>
                  <a:srgbClr val="888888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738809" y="141480"/>
            <a:ext cx="7793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  <a:defRPr b="0" i="0" sz="1800" u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325755" lvl="1" marL="9144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2915816" y="3111810"/>
            <a:ext cx="3024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325755" lvl="1" marL="9144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143533" y="1378783"/>
            <a:ext cx="88569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b="1" lang="zh-TW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Zero-Shot Noise2Noise: Efficient Image Denoising without any Data </a:t>
            </a:r>
            <a:endParaRPr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1119597" y="4109887"/>
            <a:ext cx="6904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Group 20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1119572" y="2319287"/>
            <a:ext cx="6904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CVPR 2023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lang="zh-TW" sz="1300">
                <a:latin typeface="Times New Roman"/>
                <a:ea typeface="Times New Roman"/>
                <a:cs typeface="Times New Roman"/>
                <a:sym typeface="Times New Roman"/>
              </a:rPr>
              <a:t>Youssef Mansour and Reinhard Heckel,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lang="zh-TW" sz="1300">
                <a:latin typeface="Times New Roman"/>
                <a:ea typeface="Times New Roman"/>
                <a:cs typeface="Times New Roman"/>
                <a:sym typeface="Times New Roman"/>
              </a:rPr>
              <a:t>School of Computation, Information and Technology, Technical University of Munich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lang="zh-TW" sz="1300">
                <a:latin typeface="Times New Roman"/>
                <a:ea typeface="Times New Roman"/>
                <a:cs typeface="Times New Roman"/>
                <a:sym typeface="Times New Roman"/>
              </a:rPr>
              <a:t>Munich Center for Machine Learning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lang="zh-TW" sz="1300">
                <a:latin typeface="Times New Roman"/>
                <a:ea typeface="Times New Roman"/>
                <a:cs typeface="Times New Roman"/>
                <a:sym typeface="Times New Roman"/>
              </a:rPr>
              <a:t>Dept. of Electrical and Computer Engineering, Rice University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811">
                <a:solidFill>
                  <a:srgbClr val="3C78D8"/>
                </a:solidFill>
              </a:rPr>
              <a:t>Outline</a:t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63775" y="11891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 sz="1800"/>
              <a:t>Introduction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 sz="1800"/>
              <a:t>Related Work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Method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Experiments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Conclusion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11">
                <a:solidFill>
                  <a:srgbClr val="3C78D8"/>
                </a:solidFill>
              </a:rPr>
              <a:t>Introduction</a:t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63775" y="1189150"/>
            <a:ext cx="8520600" cy="17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/>
              <a:t>Problem to solve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Current SOTA denoising techniques rely on large data sets of clean-noisy image pairs which is difficult to collect and time-consuming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Network trained on dataset suffers from a performance drop if the test images come from a different distribution of images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11">
                <a:solidFill>
                  <a:srgbClr val="3C78D8"/>
                </a:solidFill>
              </a:rPr>
              <a:t>Introduction</a:t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63775" y="1189150"/>
            <a:ext cx="8520600" cy="17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/>
              <a:t>Problem to solve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Current SOTA denoising techniques rely on large data sets of clean-noisy image pairs which is difficult to collect and time-consuming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Network trained on dataset suffers from a performance drop if the test images come from a different distribution of images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1436250" y="3184050"/>
            <a:ext cx="6271500" cy="1380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/>
              <a:t>Dataset-free method (Zero-shot)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11">
                <a:solidFill>
                  <a:srgbClr val="3C78D8"/>
                </a:solidFill>
              </a:rPr>
              <a:t>Introduction</a:t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63775" y="1189150"/>
            <a:ext cx="8520600" cy="3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/>
              <a:t>Problem to solve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Current SOTA denoising techniques rely on large data sets of clean-noisy image pairs which is difficult to collect and time-consuming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Network trained on dataset suffers from a performance drop if the test images come from a different distribution of images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</a:t>
            </a:r>
            <a:r>
              <a:rPr lang="zh-TW"/>
              <a:t>uitable only for specific noise distributions that do not generalise to different noise distributions or levels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Need previous knowledge of the noise level, which require a lot of compute (time, memory, GPU) to denoise an image</a:t>
            </a:r>
            <a:endParaRPr/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11">
                <a:solidFill>
                  <a:srgbClr val="3C78D8"/>
                </a:solidFill>
              </a:rPr>
              <a:t>Introduction</a:t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63775" y="1189150"/>
            <a:ext cx="8520600" cy="12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/>
              <a:t>K</a:t>
            </a:r>
            <a:r>
              <a:rPr lang="zh-TW"/>
              <a:t>ey attributes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Compute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Generalisation</a:t>
            </a:r>
            <a:endParaRPr/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Related Work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63775" y="1189150"/>
            <a:ext cx="8520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 sz="1800"/>
              <a:t>Background</a:t>
            </a:r>
            <a:endParaRPr sz="18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zh-TW"/>
              <a:t>Noise2Noise: Learning Image Restoration without Clean Data 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assuming zero mean noise, training a network in a supervised manner to map a noisy image to another noisy image is equivalent to mapping it to a clean image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zh-TW"/>
              <a:t>Neighbor2Neighbor: Self-Supervised Denoising from Single Noisy Images</a:t>
            </a:r>
            <a:endParaRPr/>
          </a:p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125" y="2684787"/>
            <a:ext cx="5419726" cy="69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Related Work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63775" y="1189150"/>
            <a:ext cx="8520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 sz="1800"/>
              <a:t>Background</a:t>
            </a:r>
            <a:endParaRPr sz="18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zh-TW"/>
              <a:t>Noise2Noise: Learning Image Restoration without Clean Data 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assuming zero mean noise, training a network in a supervised manner to map a noisy image to another noisy image is equivalent to mapping it to a clean image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zh-TW"/>
              <a:t>Neighbor2Neighbor: Self-Supervised Denoising from Single Noisy Images</a:t>
            </a:r>
            <a:endParaRPr/>
          </a:p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125" y="2684787"/>
            <a:ext cx="5419726" cy="6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2938" y="1189162"/>
            <a:ext cx="5322274" cy="32113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Related Work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63600" y="1189150"/>
            <a:ext cx="85206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 sz="1800"/>
              <a:t>Background</a:t>
            </a:r>
            <a:endParaRPr sz="18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zh-TW"/>
              <a:t>Noise2Noise: Learning Image Restoration without Clean Data 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assuming zero mean noise, training a network in a supervised manner to map a noisy image to another noisy image is equivalent to mapping it to a clean image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zh-TW"/>
              <a:t>Neighbor2Neighbor: Self-Supervised Denoising from Single Noisy Images</a:t>
            </a:r>
            <a:endParaRPr b="1" i="1"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extends N2N and allows training only on a set of single noisy images, by sub-sampling a noisy image to create a pair of noisy images	</a:t>
            </a:r>
            <a:endParaRPr/>
          </a:p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125" y="2684787"/>
            <a:ext cx="5419726" cy="69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Method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63775" y="1189150"/>
            <a:ext cx="85206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/>
              <a:t>Innovation</a:t>
            </a:r>
            <a:endParaRPr sz="18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○"/>
            </a:pPr>
            <a:r>
              <a:rPr b="1" lang="zh-TW" sz="1600">
                <a:solidFill>
                  <a:schemeClr val="dk1"/>
                </a:solidFill>
              </a:rPr>
              <a:t>Zero-Shot Noise2Noise (ZS-N2N)</a:t>
            </a:r>
            <a:r>
              <a:rPr lang="zh-TW" sz="1600">
                <a:solidFill>
                  <a:schemeClr val="dk1"/>
                </a:solidFill>
              </a:rPr>
              <a:t> is a novel method for image denoising that does not require any training data.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It utilizes a </a:t>
            </a:r>
            <a:r>
              <a:rPr b="1" lang="zh-TW" sz="1600">
                <a:solidFill>
                  <a:schemeClr val="dk1"/>
                </a:solidFill>
              </a:rPr>
              <a:t>lightweight two-layer neural network</a:t>
            </a:r>
            <a:r>
              <a:rPr lang="zh-TW" sz="1600">
                <a:solidFill>
                  <a:schemeClr val="dk1"/>
                </a:solidFill>
              </a:rPr>
              <a:t> with approximately 20k parameters, significantly reducing computational cost and allowing efficient execution on CPU.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The method generalizes well result on noise distributions,which making it effective in scenarios with limited computational resources.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Method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63775" y="1189150"/>
            <a:ext cx="85206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/>
              <a:t>Step 1: DownSampling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with 2 fixed kernel,which the convolution has stride 2, and it is </a:t>
            </a:r>
            <a:r>
              <a:rPr lang="zh-TW" sz="1600"/>
              <a:t>apply</a:t>
            </a:r>
            <a:r>
              <a:rPr lang="zh-TW" sz="1600"/>
              <a:t> to each image </a:t>
            </a:r>
            <a:r>
              <a:rPr lang="zh-TW" sz="1600"/>
              <a:t>channels independently.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These downsampled images simulate two noisy observations of the same scene with similar underlying signals but independent noise.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50" y="3202700"/>
            <a:ext cx="3924300" cy="19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5011" y="3202718"/>
            <a:ext cx="658587" cy="658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2230" y="3202711"/>
            <a:ext cx="1317174" cy="131717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6804737" y="3883945"/>
            <a:ext cx="207600" cy="12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5773429" y="4565003"/>
            <a:ext cx="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y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5011" y="4139465"/>
            <a:ext cx="658587" cy="65858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 txBox="1"/>
          <p:nvPr/>
        </p:nvSpPr>
        <p:spPr>
          <a:xfrm>
            <a:off x="7167748" y="4816194"/>
            <a:ext cx="7422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D2(y)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7167748" y="3879447"/>
            <a:ext cx="7422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D1(y)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0413" y="519250"/>
            <a:ext cx="170497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8788" y="504950"/>
            <a:ext cx="1704975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Method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63775" y="1189150"/>
            <a:ext cx="85206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/>
              <a:t>Step 2: </a:t>
            </a:r>
            <a:r>
              <a:rPr lang="zh-TW"/>
              <a:t> Lightweight Neural Network Setup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The network consists of two convolutional layers with a kernel size of 3×3  followed by a final layer of 1×1convolutions.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The total number of parameters in the network is approximately 20k, making it lightweight and computationally efficient.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The network does not include any normalization or pooling layers, which further reduces computational complexity.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Method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63775" y="1189150"/>
            <a:ext cx="85206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/>
              <a:t>Step 3:  </a:t>
            </a:r>
            <a:r>
              <a:rPr lang="zh-TW"/>
              <a:t>Training the Neural Network with Residual Learning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The network is trained using a residual learning approach, where the network is optimized to fit the noise rather than the image itself.</a:t>
            </a:r>
            <a:endParaRPr sz="1600"/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zh-TW" sz="1600">
                <a:solidFill>
                  <a:schemeClr val="dk1"/>
                </a:solidFill>
              </a:rPr>
              <a:t>Residual Loss</a:t>
            </a:r>
            <a:r>
              <a:rPr lang="zh-TW" sz="1600">
                <a:solidFill>
                  <a:schemeClr val="dk1"/>
                </a:solidFill>
              </a:rPr>
              <a:t>:To fit the noise rather than the image itself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b="1" lang="zh-TW" sz="1600">
                <a:solidFill>
                  <a:schemeClr val="dk1"/>
                </a:solidFill>
              </a:rPr>
              <a:t>Consistency Loss</a:t>
            </a:r>
            <a:r>
              <a:rPr lang="zh-TW" sz="1600">
                <a:solidFill>
                  <a:schemeClr val="dk1"/>
                </a:solidFill>
              </a:rPr>
              <a:t>: ensure the image consistency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3" name="Google Shape;163;p26"/>
          <p:cNvPicPr preferRelativeResize="0"/>
          <p:nvPr/>
        </p:nvPicPr>
        <p:blipFill rotWithShape="1">
          <a:blip r:embed="rId3">
            <a:alphaModFix/>
          </a:blip>
          <a:srcRect b="0" l="0" r="0" t="8374"/>
          <a:stretch/>
        </p:blipFill>
        <p:spPr>
          <a:xfrm>
            <a:off x="710888" y="2876950"/>
            <a:ext cx="4504801" cy="52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 rotWithShape="1">
          <a:blip r:embed="rId4">
            <a:alphaModFix/>
          </a:blip>
          <a:srcRect b="13889" l="0" r="0" t="0"/>
          <a:stretch/>
        </p:blipFill>
        <p:spPr>
          <a:xfrm>
            <a:off x="5139500" y="2913069"/>
            <a:ext cx="3332950" cy="415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500" y="4095175"/>
            <a:ext cx="4204547" cy="41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8050" y="4139975"/>
            <a:ext cx="3295675" cy="32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341" y="25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25" y="15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/>
          <p:nvPr/>
        </p:nvSpPr>
        <p:spPr>
          <a:xfrm>
            <a:off x="2032999" y="930966"/>
            <a:ext cx="283800" cy="17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6615450" y="2310194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D2(y)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623651" y="1861675"/>
            <a:ext cx="5784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y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3986050" y="901416"/>
            <a:ext cx="968400" cy="49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model</a:t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>
            <a:off x="3543367" y="574066"/>
            <a:ext cx="283800" cy="17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3543364" y="1549781"/>
            <a:ext cx="283800" cy="17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pic>
        <p:nvPicPr>
          <p:cNvPr id="179" name="Google Shape;179;p27"/>
          <p:cNvPicPr preferRelativeResize="0"/>
          <p:nvPr/>
        </p:nvPicPr>
        <p:blipFill rotWithShape="1">
          <a:blip r:embed="rId5">
            <a:alphaModFix/>
          </a:blip>
          <a:srcRect b="7533" l="0" r="0" t="7533"/>
          <a:stretch/>
        </p:blipFill>
        <p:spPr>
          <a:xfrm>
            <a:off x="5360969" y="21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 txBox="1"/>
          <p:nvPr/>
        </p:nvSpPr>
        <p:spPr>
          <a:xfrm>
            <a:off x="5397152" y="924812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f(</a:t>
            </a:r>
            <a:r>
              <a:rPr b="1" lang="zh-TW" sz="1300">
                <a:solidFill>
                  <a:schemeClr val="dk2"/>
                </a:solidFill>
              </a:rPr>
              <a:t>D1(y))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1150" y="13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1151" y="1385423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 txBox="1"/>
          <p:nvPr/>
        </p:nvSpPr>
        <p:spPr>
          <a:xfrm>
            <a:off x="7401150" y="251138"/>
            <a:ext cx="655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dk2"/>
                </a:solidFill>
              </a:rPr>
              <a:t>-</a:t>
            </a:r>
            <a:endParaRPr b="1" sz="3000">
              <a:solidFill>
                <a:schemeClr val="dk2"/>
              </a:solidFill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7401150" y="1560388"/>
            <a:ext cx="655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dk2"/>
                </a:solidFill>
              </a:rPr>
              <a:t>-</a:t>
            </a:r>
            <a:endParaRPr b="1" sz="3000">
              <a:solidFill>
                <a:schemeClr val="dk2"/>
              </a:solidFill>
            </a:endParaRPr>
          </a:p>
        </p:txBody>
      </p:sp>
      <p:pic>
        <p:nvPicPr>
          <p:cNvPr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341" y="1280150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7"/>
          <p:cNvSpPr txBox="1"/>
          <p:nvPr/>
        </p:nvSpPr>
        <p:spPr>
          <a:xfrm>
            <a:off x="2529075" y="2204944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D2(y)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187" name="Google Shape;187;p27"/>
          <p:cNvPicPr preferRelativeResize="0"/>
          <p:nvPr/>
        </p:nvPicPr>
        <p:blipFill rotWithShape="1">
          <a:blip r:embed="rId5">
            <a:alphaModFix/>
          </a:blip>
          <a:srcRect b="7533" l="0" r="0" t="7533"/>
          <a:stretch/>
        </p:blipFill>
        <p:spPr>
          <a:xfrm>
            <a:off x="5379057" y="1372096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5415239" y="2296887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f</a:t>
            </a:r>
            <a:r>
              <a:rPr b="1" lang="zh-TW" sz="1300">
                <a:solidFill>
                  <a:schemeClr val="dk2"/>
                </a:solidFill>
              </a:rPr>
              <a:t>(D2(y))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6615450" y="938144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D1(y)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190" name="Google Shape;19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975" y="2490316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7"/>
          <p:cNvSpPr txBox="1"/>
          <p:nvPr/>
        </p:nvSpPr>
        <p:spPr>
          <a:xfrm>
            <a:off x="491425" y="3338419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R1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975" y="3701316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491425" y="4601319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R2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2529075" y="924819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D1(y)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566" y="2490325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566" y="3700500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7"/>
          <p:cNvSpPr txBox="1"/>
          <p:nvPr/>
        </p:nvSpPr>
        <p:spPr>
          <a:xfrm>
            <a:off x="1990425" y="4601319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D1(y)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2033000" y="3338419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D2(y)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1334625" y="2697888"/>
            <a:ext cx="655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dk2"/>
                </a:solidFill>
              </a:rPr>
              <a:t>-</a:t>
            </a:r>
            <a:endParaRPr b="1" sz="3000">
              <a:solidFill>
                <a:schemeClr val="dk2"/>
              </a:solidFill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1334625" y="4007138"/>
            <a:ext cx="655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dk2"/>
                </a:solidFill>
              </a:rPr>
              <a:t>-</a:t>
            </a:r>
            <a:endParaRPr b="1" sz="3000">
              <a:solidFill>
                <a:schemeClr val="dk2"/>
              </a:solidFill>
            </a:endParaRPr>
          </a:p>
        </p:txBody>
      </p:sp>
      <p:cxnSp>
        <p:nvCxnSpPr>
          <p:cNvPr id="201" name="Google Shape;201;p27"/>
          <p:cNvCxnSpPr/>
          <p:nvPr/>
        </p:nvCxnSpPr>
        <p:spPr>
          <a:xfrm>
            <a:off x="3029850" y="2965550"/>
            <a:ext cx="4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7"/>
          <p:cNvCxnSpPr/>
          <p:nvPr/>
        </p:nvCxnSpPr>
        <p:spPr>
          <a:xfrm>
            <a:off x="3056625" y="4144275"/>
            <a:ext cx="40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7"/>
          <p:cNvCxnSpPr/>
          <p:nvPr/>
        </p:nvCxnSpPr>
        <p:spPr>
          <a:xfrm>
            <a:off x="3431675" y="2965550"/>
            <a:ext cx="0" cy="53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7"/>
          <p:cNvCxnSpPr/>
          <p:nvPr/>
        </p:nvCxnSpPr>
        <p:spPr>
          <a:xfrm flipH="1">
            <a:off x="3458375" y="3822800"/>
            <a:ext cx="13500" cy="3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7"/>
          <p:cNvSpPr txBox="1"/>
          <p:nvPr/>
        </p:nvSpPr>
        <p:spPr>
          <a:xfrm>
            <a:off x="3189425" y="3283319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500">
                <a:solidFill>
                  <a:schemeClr val="dk2"/>
                </a:solidFill>
              </a:rPr>
              <a:t>+</a:t>
            </a:r>
            <a:endParaRPr b="1" sz="3500">
              <a:solidFill>
                <a:schemeClr val="dk2"/>
              </a:solidFill>
            </a:endParaRPr>
          </a:p>
        </p:txBody>
      </p:sp>
      <p:grpSp>
        <p:nvGrpSpPr>
          <p:cNvPr id="206" name="Google Shape;206;p27"/>
          <p:cNvGrpSpPr/>
          <p:nvPr/>
        </p:nvGrpSpPr>
        <p:grpSpPr>
          <a:xfrm>
            <a:off x="3029850" y="4263284"/>
            <a:ext cx="5954671" cy="447297"/>
            <a:chOff x="710888" y="2876950"/>
            <a:chExt cx="7761563" cy="524750"/>
          </a:xfrm>
        </p:grpSpPr>
        <p:pic>
          <p:nvPicPr>
            <p:cNvPr id="207" name="Google Shape;207;p27"/>
            <p:cNvPicPr preferRelativeResize="0"/>
            <p:nvPr/>
          </p:nvPicPr>
          <p:blipFill rotWithShape="1">
            <a:blip r:embed="rId7">
              <a:alphaModFix/>
            </a:blip>
            <a:srcRect b="0" l="0" r="0" t="8374"/>
            <a:stretch/>
          </p:blipFill>
          <p:spPr>
            <a:xfrm>
              <a:off x="710888" y="2876950"/>
              <a:ext cx="4504801" cy="52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7"/>
            <p:cNvPicPr preferRelativeResize="0"/>
            <p:nvPr/>
          </p:nvPicPr>
          <p:blipFill rotWithShape="1">
            <a:blip r:embed="rId8">
              <a:alphaModFix/>
            </a:blip>
            <a:srcRect b="13889" l="0" r="0" t="0"/>
            <a:stretch/>
          </p:blipFill>
          <p:spPr>
            <a:xfrm>
              <a:off x="5139500" y="2913069"/>
              <a:ext cx="3332950" cy="4156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9" name="Google Shape;209;p27"/>
          <p:cNvPicPr preferRelativeResize="0"/>
          <p:nvPr/>
        </p:nvPicPr>
        <p:blipFill rotWithShape="1">
          <a:blip r:embed="rId5">
            <a:alphaModFix/>
          </a:blip>
          <a:srcRect b="7533" l="0" r="0" t="7533"/>
          <a:stretch/>
        </p:blipFill>
        <p:spPr>
          <a:xfrm>
            <a:off x="7815644" y="21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/>
        </p:nvSpPr>
        <p:spPr>
          <a:xfrm>
            <a:off x="7851827" y="924812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f</a:t>
            </a:r>
            <a:r>
              <a:rPr b="1" lang="zh-TW" sz="1300">
                <a:solidFill>
                  <a:schemeClr val="dk2"/>
                </a:solidFill>
              </a:rPr>
              <a:t>(D1(y))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211" name="Google Shape;211;p27"/>
          <p:cNvPicPr preferRelativeResize="0"/>
          <p:nvPr/>
        </p:nvPicPr>
        <p:blipFill rotWithShape="1">
          <a:blip r:embed="rId5">
            <a:alphaModFix/>
          </a:blip>
          <a:srcRect b="7533" l="0" r="0" t="7533"/>
          <a:stretch/>
        </p:blipFill>
        <p:spPr>
          <a:xfrm>
            <a:off x="7833732" y="1372096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7"/>
          <p:cNvSpPr txBox="1"/>
          <p:nvPr/>
        </p:nvSpPr>
        <p:spPr>
          <a:xfrm>
            <a:off x="7869914" y="2296887"/>
            <a:ext cx="1014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f</a:t>
            </a:r>
            <a:r>
              <a:rPr b="1" lang="zh-TW" sz="1300">
                <a:solidFill>
                  <a:schemeClr val="dk2"/>
                </a:solidFill>
              </a:rPr>
              <a:t>(D2(y))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647610" y="1781730"/>
            <a:ext cx="3828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y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18" name="Google Shape;218;p28"/>
          <p:cNvSpPr/>
          <p:nvPr/>
        </p:nvSpPr>
        <p:spPr>
          <a:xfrm>
            <a:off x="1888015" y="759981"/>
            <a:ext cx="941700" cy="41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model</a:t>
            </a:r>
            <a:endParaRPr/>
          </a:p>
        </p:txBody>
      </p:sp>
      <p:pic>
        <p:nvPicPr>
          <p:cNvPr id="219" name="Google Shape;21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7756" y="-9998"/>
            <a:ext cx="1800001" cy="180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0003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3252917" y="1814838"/>
            <a:ext cx="986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f(</a:t>
            </a:r>
            <a:r>
              <a:rPr b="1" lang="zh-TW" sz="1300">
                <a:solidFill>
                  <a:schemeClr val="dk2"/>
                </a:solidFill>
              </a:rPr>
              <a:t>y)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4845676" y="1097535"/>
            <a:ext cx="275700" cy="14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5408354" y="865621"/>
            <a:ext cx="986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D1(</a:t>
            </a:r>
            <a:r>
              <a:rPr b="1" lang="zh-TW" sz="1300">
                <a:solidFill>
                  <a:schemeClr val="dk2"/>
                </a:solidFill>
              </a:rPr>
              <a:t>f(y))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5475451" y="2077579"/>
            <a:ext cx="986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D2(f(y))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6634750" y="3309575"/>
            <a:ext cx="22290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minimize the mse between the two grpah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6503725" y="394475"/>
            <a:ext cx="523800" cy="248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5206" y="2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5206" y="1177577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/>
          <p:nvPr/>
        </p:nvSpPr>
        <p:spPr>
          <a:xfrm>
            <a:off x="6461550" y="1573938"/>
            <a:ext cx="523800" cy="248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8"/>
          <p:cNvSpPr txBox="1"/>
          <p:nvPr/>
        </p:nvSpPr>
        <p:spPr>
          <a:xfrm>
            <a:off x="7332404" y="885633"/>
            <a:ext cx="986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f(D1(y))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7399501" y="2097592"/>
            <a:ext cx="986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f(D2(y))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232" name="Google Shape;2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9256" y="20015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9256" y="1197590"/>
            <a:ext cx="900000" cy="90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28"/>
          <p:cNvGrpSpPr/>
          <p:nvPr/>
        </p:nvGrpSpPr>
        <p:grpSpPr>
          <a:xfrm>
            <a:off x="145600" y="3633461"/>
            <a:ext cx="6315940" cy="417604"/>
            <a:chOff x="-4137" y="3732950"/>
            <a:chExt cx="7500225" cy="415650"/>
          </a:xfrm>
        </p:grpSpPr>
        <p:pic>
          <p:nvPicPr>
            <p:cNvPr id="235" name="Google Shape;23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4137" y="3732950"/>
              <a:ext cx="4204547" cy="415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200413" y="3777750"/>
              <a:ext cx="3295675" cy="326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Method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242" name="Google Shape;242;p29"/>
          <p:cNvSpPr txBox="1"/>
          <p:nvPr>
            <p:ph idx="1" type="body"/>
          </p:nvPr>
        </p:nvSpPr>
        <p:spPr>
          <a:xfrm>
            <a:off x="363775" y="118915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/>
              <a:t>Step 4 :Applying the Trained Network</a:t>
            </a:r>
            <a:endParaRPr/>
          </a:p>
        </p:txBody>
      </p:sp>
      <p:sp>
        <p:nvSpPr>
          <p:cNvPr id="243" name="Google Shape;24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4" name="Google Shape;244;p29"/>
          <p:cNvSpPr txBox="1"/>
          <p:nvPr/>
        </p:nvSpPr>
        <p:spPr>
          <a:xfrm>
            <a:off x="1133385" y="4472430"/>
            <a:ext cx="3828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y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245" name="Google Shape;2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75" y="2680697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9"/>
          <p:cNvSpPr txBox="1"/>
          <p:nvPr/>
        </p:nvSpPr>
        <p:spPr>
          <a:xfrm>
            <a:off x="2704988" y="3437863"/>
            <a:ext cx="655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dk2"/>
                </a:solidFill>
              </a:rPr>
              <a:t>-</a:t>
            </a:r>
            <a:endParaRPr b="1" sz="3000">
              <a:solidFill>
                <a:schemeClr val="dk2"/>
              </a:solidFill>
            </a:endParaRPr>
          </a:p>
        </p:txBody>
      </p:sp>
      <p:pic>
        <p:nvPicPr>
          <p:cNvPr id="247" name="Google Shape;24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5206" y="2622002"/>
            <a:ext cx="1800001" cy="18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 txBox="1"/>
          <p:nvPr/>
        </p:nvSpPr>
        <p:spPr>
          <a:xfrm>
            <a:off x="3810367" y="4446838"/>
            <a:ext cx="986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f(y)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249" name="Google Shape;24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4625" y="2621991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/>
          <p:nvPr/>
        </p:nvSpPr>
        <p:spPr>
          <a:xfrm>
            <a:off x="5600588" y="3437863"/>
            <a:ext cx="655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dk2"/>
                </a:solidFill>
              </a:rPr>
              <a:t>-</a:t>
            </a:r>
            <a:endParaRPr b="1" sz="3000">
              <a:solidFill>
                <a:schemeClr val="dk2"/>
              </a:solidFill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5600600" y="3580738"/>
            <a:ext cx="655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dk2"/>
                </a:solidFill>
              </a:rPr>
              <a:t>-</a:t>
            </a:r>
            <a:endParaRPr b="1" sz="3000">
              <a:solidFill>
                <a:schemeClr val="dk2"/>
              </a:solidFill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6767724" y="4546892"/>
            <a:ext cx="137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2"/>
                </a:solidFill>
              </a:rPr>
              <a:t>Denoise image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Experiments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258" name="Google Shape;258;p30"/>
          <p:cNvSpPr txBox="1"/>
          <p:nvPr>
            <p:ph idx="1" type="body"/>
          </p:nvPr>
        </p:nvSpPr>
        <p:spPr>
          <a:xfrm>
            <a:off x="363775" y="1189150"/>
            <a:ext cx="8520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/>
              <a:t>Different kind of noise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60" name="Google Shape;26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50" y="1890875"/>
            <a:ext cx="6913104" cy="277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type="title"/>
          </p:nvPr>
        </p:nvSpPr>
        <p:spPr>
          <a:xfrm>
            <a:off x="185475" y="55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Conclusion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266" name="Google Shape;266;p31"/>
          <p:cNvSpPr txBox="1"/>
          <p:nvPr>
            <p:ph idx="1" type="body"/>
          </p:nvPr>
        </p:nvSpPr>
        <p:spPr>
          <a:xfrm>
            <a:off x="363775" y="1189150"/>
            <a:ext cx="8520600" cy="3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zh-TW" sz="1300">
                <a:solidFill>
                  <a:schemeClr val="dk1"/>
                </a:solidFill>
              </a:rPr>
              <a:t>Algorithm Innovation</a:t>
            </a:r>
            <a:r>
              <a:rPr lang="zh-TW" sz="1300">
                <a:solidFill>
                  <a:schemeClr val="dk1"/>
                </a:solidFill>
              </a:rPr>
              <a:t>: We proposed a novel zero-shot image denoising algorithm that does not require any training examples.</a:t>
            </a:r>
            <a:endParaRPr sz="13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zh-TW" sz="1300">
                <a:solidFill>
                  <a:schemeClr val="dk1"/>
                </a:solidFill>
              </a:rPr>
              <a:t>Simple Network Architecture</a:t>
            </a:r>
            <a:r>
              <a:rPr lang="zh-TW" sz="1300">
                <a:solidFill>
                  <a:schemeClr val="dk1"/>
                </a:solidFill>
              </a:rPr>
              <a:t>: The method utilizes a simple 2-layer network.</a:t>
            </a:r>
            <a:endParaRPr sz="13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zh-TW" sz="1300">
                <a:solidFill>
                  <a:schemeClr val="dk1"/>
                </a:solidFill>
              </a:rPr>
              <a:t>High Computational Efficiency</a:t>
            </a:r>
            <a:r>
              <a:rPr lang="zh-TW" sz="1300">
                <a:solidFill>
                  <a:schemeClr val="dk1"/>
                </a:solidFill>
              </a:rPr>
              <a:t>: The algorithm can perform denoising in a relatively short period of time, even without the use of a GPU.</a:t>
            </a:r>
            <a:endParaRPr sz="13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zh-TW" sz="1300">
                <a:solidFill>
                  <a:schemeClr val="dk1"/>
                </a:solidFill>
              </a:rPr>
              <a:t>Wide Application Range</a:t>
            </a:r>
            <a:r>
              <a:rPr lang="zh-TW" sz="1300">
                <a:solidFill>
                  <a:schemeClr val="dk1"/>
                </a:solidFill>
              </a:rPr>
              <a:t>: The method performs well on both simulated noise and real-world noise from cameras.</a:t>
            </a:r>
            <a:endParaRPr sz="13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zh-TW" sz="1300">
                <a:solidFill>
                  <a:schemeClr val="dk1"/>
                </a:solidFill>
              </a:rPr>
              <a:t>Balanced Performance</a:t>
            </a:r>
            <a:r>
              <a:rPr lang="zh-TW" sz="1300">
                <a:solidFill>
                  <a:schemeClr val="dk1"/>
                </a:solidFill>
              </a:rPr>
              <a:t>: It achieves a good trade-off between generalization, denoising quality, and computational resources.</a:t>
            </a:r>
            <a:endParaRPr/>
          </a:p>
        </p:txBody>
      </p:sp>
      <p:sp>
        <p:nvSpPr>
          <p:cNvPr id="267" name="Google Shape;26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/>
          <p:nvPr>
            <p:ph type="ctrTitle"/>
          </p:nvPr>
        </p:nvSpPr>
        <p:spPr>
          <a:xfrm>
            <a:off x="143558" y="2101508"/>
            <a:ext cx="88569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Thank You for Your Attention</a:t>
            </a:r>
            <a:endParaRPr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type="title"/>
          </p:nvPr>
        </p:nvSpPr>
        <p:spPr>
          <a:xfrm>
            <a:off x="185475" y="55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Conclusion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279" name="Google Shape;279;p33"/>
          <p:cNvSpPr txBox="1"/>
          <p:nvPr>
            <p:ph idx="1" type="body"/>
          </p:nvPr>
        </p:nvSpPr>
        <p:spPr>
          <a:xfrm>
            <a:off x="363775" y="118915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t/>
            </a:r>
            <a:endParaRPr sz="1800"/>
          </a:p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Experiments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286" name="Google Shape;286;p34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 sz="1800"/>
              <a:t>Prepare backup slides if necessary</a:t>
            </a:r>
            <a:endParaRPr/>
          </a:p>
        </p:txBody>
      </p:sp>
      <p:sp>
        <p:nvSpPr>
          <p:cNvPr id="287" name="Google Shape;28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Visualization (Optional)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293" name="Google Shape;29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Ablation Study (Optional)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299" name="Google Shape;29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Experiments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305" name="Google Shape;305;p37"/>
          <p:cNvSpPr txBox="1"/>
          <p:nvPr>
            <p:ph idx="1" type="body"/>
          </p:nvPr>
        </p:nvSpPr>
        <p:spPr>
          <a:xfrm>
            <a:off x="363775" y="118915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sp>
        <p:nvSpPr>
          <p:cNvPr id="306" name="Google Shape;30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2811">
                <a:solidFill>
                  <a:srgbClr val="3C78D8"/>
                </a:solidFill>
              </a:rPr>
              <a:t>Method</a:t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>
              <a:solidFill>
                <a:srgbClr val="3C78D8"/>
              </a:solidFill>
            </a:endParaRPr>
          </a:p>
        </p:txBody>
      </p:sp>
      <p:sp>
        <p:nvSpPr>
          <p:cNvPr id="312" name="Google Shape;312;p38"/>
          <p:cNvSpPr txBox="1"/>
          <p:nvPr>
            <p:ph idx="1" type="body"/>
          </p:nvPr>
        </p:nvSpPr>
        <p:spPr>
          <a:xfrm>
            <a:off x="363775" y="118915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 sz="1800"/>
              <a:t>The proposed method (novelty) in the paper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zh-TW" sz="1800"/>
              <a:t>The main component in the presentation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Please ensure the explanation is clear and concise</a:t>
            </a:r>
            <a:endParaRPr sz="1800"/>
          </a:p>
        </p:txBody>
      </p:sp>
      <p:sp>
        <p:nvSpPr>
          <p:cNvPr id="313" name="Google Shape;31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