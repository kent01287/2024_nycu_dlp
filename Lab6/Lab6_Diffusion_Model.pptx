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2" r:id="rId19"/>
    <p:sldId id="275" r:id="rId20"/>
  </p:sldIdLst>
  <p:sldSz cx="12192000" cy="6858000"/>
  <p:notesSz cx="6858000" cy="9144000"/>
  <p:embeddedFontLst>
    <p:embeddedFont>
      <p:font typeface="Libre Baskerville" panose="02000000000000000000" pitchFamily="2" charset="0"/>
      <p:regular r:id="rId22"/>
      <p:bold r:id="rId23"/>
      <p:italic r:id="rId24"/>
    </p:embeddedFont>
    <p:embeddedFont>
      <p:font typeface="Libre Franklin" pitchFamily="2" charset="0"/>
      <p:regular r:id="rId25"/>
      <p:bold r:id="rId26"/>
      <p:italic r:id="rId27"/>
      <p:boldItalic r:id="rId28"/>
    </p:embeddedFont>
    <p:embeddedFont>
      <p:font typeface="Times" panose="02020603050405020304" pitchFamily="18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JmygdP1y2LEC/ee2tkBKqQeF2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:notes"/>
          <p:cNvSpPr/>
          <p:nvPr/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:notes"/>
          <p:cNvSpPr/>
          <p:nvPr/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1dc8c5e98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0629" y="686405"/>
            <a:ext cx="59967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271dc8c5e98_0_295:notes"/>
          <p:cNvSpPr txBox="1">
            <a:spLocks noGrp="1"/>
          </p:cNvSpPr>
          <p:nvPr>
            <p:ph type="body" idx="1"/>
          </p:nvPr>
        </p:nvSpPr>
        <p:spPr>
          <a:xfrm>
            <a:off x="685801" y="4343402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300" tIns="44650" rIns="89300" bIns="44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  <p:sp>
        <p:nvSpPr>
          <p:cNvPr id="139" name="Google Shape;139;g271dc8c5e98_0_295:notes"/>
          <p:cNvSpPr txBox="1">
            <a:spLocks noGrp="1"/>
          </p:cNvSpPr>
          <p:nvPr>
            <p:ph type="sldNum" idx="12"/>
          </p:nvPr>
        </p:nvSpPr>
        <p:spPr>
          <a:xfrm>
            <a:off x="3884615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300" tIns="44650" rIns="89300" bIns="446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1dc8c5e98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271dc8c5e98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1dc8c5e98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271dc8c5e98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71dc8c5e98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0629" y="686405"/>
            <a:ext cx="59967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271dc8c5e98_0_242:notes"/>
          <p:cNvSpPr txBox="1">
            <a:spLocks noGrp="1"/>
          </p:cNvSpPr>
          <p:nvPr>
            <p:ph type="body" idx="1"/>
          </p:nvPr>
        </p:nvSpPr>
        <p:spPr>
          <a:xfrm>
            <a:off x="685801" y="4343402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300" tIns="44650" rIns="89300" bIns="44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  <p:sp>
        <p:nvSpPr>
          <p:cNvPr id="175" name="Google Shape;175;g271dc8c5e98_0_242:notes"/>
          <p:cNvSpPr txBox="1">
            <a:spLocks noGrp="1"/>
          </p:cNvSpPr>
          <p:nvPr>
            <p:ph type="sldNum" idx="12"/>
          </p:nvPr>
        </p:nvSpPr>
        <p:spPr>
          <a:xfrm>
            <a:off x="3884615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300" tIns="44650" rIns="89300" bIns="446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415af6205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g2415af6205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1dc8c5e9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" name="Google Shape;217;g271dc8c5e9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71dc8c5e98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" name="Google Shape;228;g271dc8c5e98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1dc8c5e98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0629" y="686405"/>
            <a:ext cx="59967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271dc8c5e98_0_301:notes"/>
          <p:cNvSpPr txBox="1">
            <a:spLocks noGrp="1"/>
          </p:cNvSpPr>
          <p:nvPr>
            <p:ph type="body" idx="1"/>
          </p:nvPr>
        </p:nvSpPr>
        <p:spPr>
          <a:xfrm>
            <a:off x="685801" y="4343402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300" tIns="44650" rIns="89300" bIns="44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  <p:sp>
        <p:nvSpPr>
          <p:cNvPr id="235" name="Google Shape;235;g271dc8c5e98_0_301:notes"/>
          <p:cNvSpPr txBox="1">
            <a:spLocks noGrp="1"/>
          </p:cNvSpPr>
          <p:nvPr>
            <p:ph type="sldNum" idx="12"/>
          </p:nvPr>
        </p:nvSpPr>
        <p:spPr>
          <a:xfrm>
            <a:off x="3884615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300" tIns="44650" rIns="89300" bIns="446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7feb24d4d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7feb24d4d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/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3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body" idx="2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4" name="Google Shape;54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投影片">
  <p:cSld name="1_標題投影片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1dc8c5e98_0_199"/>
          <p:cNvSpPr txBox="1">
            <a:spLocks noGrp="1"/>
          </p:cNvSpPr>
          <p:nvPr>
            <p:ph type="ctrTitle"/>
          </p:nvPr>
        </p:nvSpPr>
        <p:spPr>
          <a:xfrm>
            <a:off x="239349" y="1310903"/>
            <a:ext cx="11809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600"/>
              <a:buFont typeface="Libre Franklin"/>
              <a:buNone/>
              <a:defRPr sz="3600" b="0">
                <a:solidFill>
                  <a:srgbClr val="00339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71dc8c5e98_0_199"/>
          <p:cNvSpPr txBox="1">
            <a:spLocks noGrp="1"/>
          </p:cNvSpPr>
          <p:nvPr>
            <p:ph type="subTitle" idx="1"/>
          </p:nvPr>
        </p:nvSpPr>
        <p:spPr>
          <a:xfrm>
            <a:off x="3130219" y="2924944"/>
            <a:ext cx="5654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  <a:defRPr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g271dc8c5e98_0_199"/>
          <p:cNvSpPr txBox="1">
            <a:spLocks noGrp="1"/>
          </p:cNvSpPr>
          <p:nvPr>
            <p:ph type="dt" idx="10"/>
          </p:nvPr>
        </p:nvSpPr>
        <p:spPr>
          <a:xfrm>
            <a:off x="8229600" y="6191250"/>
            <a:ext cx="33021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g271dc8c5e98_0_199"/>
          <p:cNvSpPr txBox="1">
            <a:spLocks noGrp="1"/>
          </p:cNvSpPr>
          <p:nvPr>
            <p:ph type="body" idx="2"/>
          </p:nvPr>
        </p:nvSpPr>
        <p:spPr>
          <a:xfrm>
            <a:off x="985079" y="188640"/>
            <a:ext cx="103917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 b="0" i="0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g271dc8c5e98_0_199"/>
          <p:cNvSpPr txBox="1">
            <a:spLocks noGrp="1"/>
          </p:cNvSpPr>
          <p:nvPr>
            <p:ph type="body" idx="3"/>
          </p:nvPr>
        </p:nvSpPr>
        <p:spPr>
          <a:xfrm>
            <a:off x="3887755" y="4149080"/>
            <a:ext cx="40323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4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5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5"/>
          <p:cNvSpPr txBox="1">
            <a:spLocks noGrp="1"/>
          </p:cNvSpPr>
          <p:nvPr>
            <p:ph type="body" idx="3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6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8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3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9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9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0"/>
          <p:cNvSpPr txBox="1">
            <a:spLocks noGrp="1"/>
          </p:cNvSpPr>
          <p:nvPr>
            <p:ph type="body" idx="2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2" name="Google Shape;112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5"/>
          <p:cNvSpPr/>
          <p:nvPr/>
        </p:nvSpPr>
        <p:spPr>
          <a:xfrm>
            <a:off x="85320" y="69840"/>
            <a:ext cx="12016440" cy="6692040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7"/>
          <p:cNvSpPr/>
          <p:nvPr/>
        </p:nvSpPr>
        <p:spPr>
          <a:xfrm>
            <a:off x="85320" y="69840"/>
            <a:ext cx="12016440" cy="6692040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7"/>
          <p:cNvSpPr/>
          <p:nvPr/>
        </p:nvSpPr>
        <p:spPr>
          <a:xfrm>
            <a:off x="239400" y="6283440"/>
            <a:ext cx="45576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‹#›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34817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D34817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5.0523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UKNUOFseoge1Sc2PooesvKK9KmViZtE4?usp=shari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/>
          <p:nvPr/>
        </p:nvSpPr>
        <p:spPr>
          <a:xfrm>
            <a:off x="1331688" y="1810825"/>
            <a:ext cx="9528600" cy="14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NYCU 2024 Spring DL Lab6</a:t>
            </a:r>
            <a:endParaRPr sz="3200" b="1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Generative Models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2644343" y="3615115"/>
            <a:ext cx="6903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楊賀弼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984960" y="188640"/>
            <a:ext cx="10389960" cy="43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4619880" y="5445360"/>
            <a:ext cx="3022920" cy="71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Aug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/>
          <p:nvPr/>
        </p:nvSpPr>
        <p:spPr>
          <a:xfrm>
            <a:off x="1219320" y="274680"/>
            <a:ext cx="1036188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219320" y="1447920"/>
            <a:ext cx="10361880" cy="45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8638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800"/>
              <a:buFont typeface="Calibri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8638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800"/>
              <a:buFont typeface="Calibri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 description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8638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800"/>
              <a:buFont typeface="Calibri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design guide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8638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800"/>
              <a:buFont typeface="Calibri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Scoring criteria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7589" marR="0" lvl="0" indent="-1587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7589" marR="0" lvl="0" indent="-1587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1219320" y="274680"/>
            <a:ext cx="1036188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219320" y="1447920"/>
            <a:ext cx="10361880" cy="520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•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submission deadline: </a:t>
            </a:r>
            <a:r>
              <a:rPr lang="en-US" sz="2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Aug</a:t>
            </a:r>
            <a:r>
              <a:rPr lang="en-US" sz="2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lang="en-US" sz="2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2024, 11:59 </a:t>
            </a: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.m.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to demo this lab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Zip all files in one file</a:t>
            </a:r>
            <a:endParaRPr sz="18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Report (.pdf)</a:t>
            </a:r>
            <a:endParaRPr sz="18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 sz="24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•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 it "DL_LAB6_YourStudentID_YourName.zip”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 “DL_LAB6_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313553051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楊賀弼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.zip”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•"/>
            </a:pPr>
            <a:r>
              <a:rPr lang="en-US" sz="2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-5% to your score</a:t>
            </a: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you do not follow the format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Upload the model weight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1dc8c5e98_0_295"/>
          <p:cNvSpPr txBox="1">
            <a:spLocks noGrp="1"/>
          </p:cNvSpPr>
          <p:nvPr>
            <p:ph type="ctrTitle"/>
          </p:nvPr>
        </p:nvSpPr>
        <p:spPr>
          <a:xfrm>
            <a:off x="239349" y="1988840"/>
            <a:ext cx="11809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Lab description</a:t>
            </a:r>
            <a:endParaRPr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/>
          <p:nvPr/>
        </p:nvSpPr>
        <p:spPr>
          <a:xfrm>
            <a:off x="1219320" y="274680"/>
            <a:ext cx="1036188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Lab objective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219325" y="1447925"/>
            <a:ext cx="10485300" cy="45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need to implement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altLang="zh-TW" sz="26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DDPM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generate synthetic images according to multi-label conditions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026" y="2011850"/>
            <a:ext cx="3145100" cy="43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1219320" y="274680"/>
            <a:ext cx="1036188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219257" y="1416255"/>
            <a:ext cx="10362000" cy="4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800"/>
              <a:buFont typeface="Calibri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and train your models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 a conditional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DDPM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use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any architecture you like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800"/>
              <a:buFont typeface="Calibri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Synthesis image and evaluate the results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the synthetic images in grids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(for test.json, new_test.json)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the denoising process in a grid for sampling from your DDPM 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(with the label set [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"red sphere", "cyan cylinder", "cyan cube"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])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Evaluate your model with the classification accuracies from the provided evaluator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(for test.json, new_test.json)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1dc8c5e98_0_212"/>
          <p:cNvSpPr/>
          <p:nvPr/>
        </p:nvSpPr>
        <p:spPr>
          <a:xfrm>
            <a:off x="1219320" y="274680"/>
            <a:ext cx="103620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271dc8c5e98_0_212"/>
          <p:cNvSpPr/>
          <p:nvPr/>
        </p:nvSpPr>
        <p:spPr>
          <a:xfrm>
            <a:off x="1219325" y="1447926"/>
            <a:ext cx="10362000" cy="3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816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410"/>
              <a:buFont typeface="Calibri"/>
              <a:buChar char="●"/>
            </a:pPr>
            <a:r>
              <a:rPr lang="en-US" sz="241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Provided files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6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10"/>
              <a:buFont typeface="Calibri"/>
              <a:buChar char="○"/>
            </a:pPr>
            <a:r>
              <a:rPr lang="en-US" sz="222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readme.txt, train.json, test.json, new_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test.json, </a:t>
            </a:r>
            <a:r>
              <a:rPr lang="en-US" sz="222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object.json, iclevr.zip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6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410"/>
              <a:buFont typeface="Calibri"/>
              <a:buChar char="●"/>
            </a:pPr>
            <a:r>
              <a:rPr lang="en-US" sz="241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object.json</a:t>
            </a:r>
            <a:endParaRPr sz="24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6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10"/>
              <a:buFont typeface="Calibri"/>
              <a:buChar char="○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of objects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6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10"/>
              <a:buFont typeface="Calibri"/>
              <a:buChar char="○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classes</a:t>
            </a:r>
            <a:endParaRPr sz="24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Arial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labels: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[“cyan cylinder”, “red cube”], [“green sphere”], …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same object will not appear twice in an image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g271dc8c5e98_0_2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9320" y="5041480"/>
            <a:ext cx="2045160" cy="15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271dc8c5e98_0_2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4120" y="5039680"/>
            <a:ext cx="2055960" cy="154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271dc8c5e98_0_2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28560" y="5039680"/>
            <a:ext cx="2055960" cy="154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271dc8c5e98_0_2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61280" y="5039680"/>
            <a:ext cx="2047680" cy="15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271dc8c5e98_0_2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7040" y="5039680"/>
            <a:ext cx="2047680" cy="15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1dc8c5e98_0_223"/>
          <p:cNvSpPr/>
          <p:nvPr/>
        </p:nvSpPr>
        <p:spPr>
          <a:xfrm>
            <a:off x="1219320" y="274680"/>
            <a:ext cx="103620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Pretrained evaluator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271dc8c5e98_0_223"/>
          <p:cNvSpPr/>
          <p:nvPr/>
        </p:nvSpPr>
        <p:spPr>
          <a:xfrm>
            <a:off x="1219325" y="1447925"/>
            <a:ext cx="10565700" cy="47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files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evaluator.py, checkpoint.pth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695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○"/>
            </a:pPr>
            <a:r>
              <a:rPr lang="en-US" sz="222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NOT modify any of them</a:t>
            </a:r>
            <a:endParaRPr sz="222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Arial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</a:t>
            </a: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(images, labels) to compute accuracy of your synthetic images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Labels should be one-hot vector. E.g. [[1,1,0,0,…],[0,1,0,0,…],…]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Images should be all generated images. E.g. (batch size, 3,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64, 64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Images should be normalized with </a:t>
            </a:r>
            <a:r>
              <a:rPr lang="en-US" sz="17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transforms.Normalize((0.5, 0.5, 0.5), (0.5, 0.5, 0.5))</a:t>
            </a:r>
            <a:endParaRPr sz="24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4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10"/>
              <a:buFont typeface="Calibri"/>
              <a:buChar char="●"/>
            </a:pPr>
            <a:r>
              <a:rPr lang="en-US" sz="261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involve this evaluator in training or sampling for better result</a:t>
            </a:r>
            <a:endParaRPr sz="26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6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10"/>
              <a:buFont typeface="Calibri"/>
              <a:buChar char="○"/>
            </a:pPr>
            <a:r>
              <a:rPr lang="en-US" sz="241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 classifier guidance for DDPM</a:t>
            </a:r>
            <a:endParaRPr sz="24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6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10"/>
              <a:buFont typeface="Calibri"/>
              <a:buChar char="○"/>
            </a:pPr>
            <a:r>
              <a:rPr lang="en-US" sz="241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Inherit the class if you need extra functionalities</a:t>
            </a:r>
            <a:endParaRPr sz="24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6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10"/>
              <a:buFont typeface="Calibri"/>
              <a:buChar char="○"/>
            </a:pPr>
            <a:r>
              <a:rPr lang="en-US" sz="222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Again, DO NOT modify the weight and class script</a:t>
            </a:r>
            <a:endParaRPr sz="221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1dc8c5e98_0_242"/>
          <p:cNvSpPr txBox="1">
            <a:spLocks noGrp="1"/>
          </p:cNvSpPr>
          <p:nvPr>
            <p:ph type="ctrTitle"/>
          </p:nvPr>
        </p:nvSpPr>
        <p:spPr>
          <a:xfrm>
            <a:off x="239349" y="1988840"/>
            <a:ext cx="11809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Implement a conditional DDPM</a:t>
            </a:r>
            <a:endParaRPr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15af6205d_0_2"/>
          <p:cNvSpPr/>
          <p:nvPr/>
        </p:nvSpPr>
        <p:spPr>
          <a:xfrm>
            <a:off x="1219320" y="274680"/>
            <a:ext cx="103620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Design of DDPM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2415af6205d_0_2"/>
          <p:cNvSpPr/>
          <p:nvPr/>
        </p:nvSpPr>
        <p:spPr>
          <a:xfrm>
            <a:off x="1219320" y="1447920"/>
            <a:ext cx="10362000" cy="45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Denoising diffusion model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Latent diffusion model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encoder/decoder design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Condition embedding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embedding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embedding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Noise schedule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cosine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1219320" y="274680"/>
            <a:ext cx="1036188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Design of UNet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219320" y="1447920"/>
            <a:ext cx="10361880" cy="45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blocks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layers, channels in each blocks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Down/upsampling blocks design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for the blocks. e.g. Resnet block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Self/cross attention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to add condition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>
            <a:alphaModFix/>
          </a:blip>
          <a:srcRect b="19902"/>
          <a:stretch/>
        </p:blipFill>
        <p:spPr>
          <a:xfrm>
            <a:off x="6073825" y="3119775"/>
            <a:ext cx="5625074" cy="359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1dc8c5e98_0_256"/>
          <p:cNvSpPr/>
          <p:nvPr/>
        </p:nvSpPr>
        <p:spPr>
          <a:xfrm>
            <a:off x="1219320" y="1447920"/>
            <a:ext cx="10362000" cy="45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DDPM, DDIM, etc.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classifier guidance (</a:t>
            </a:r>
            <a:r>
              <a:rPr lang="en-US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Diffusion models beat gans on image synthesis</a:t>
            </a: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271dc8c5e98_0_256"/>
          <p:cNvSpPr/>
          <p:nvPr/>
        </p:nvSpPr>
        <p:spPr>
          <a:xfrm>
            <a:off x="1219320" y="274680"/>
            <a:ext cx="103620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Choice of sampling method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271dc8c5e98_0_2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92163" y="2452447"/>
            <a:ext cx="6807675" cy="41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271dc8c5e98_0_256"/>
          <p:cNvSpPr/>
          <p:nvPr/>
        </p:nvSpPr>
        <p:spPr>
          <a:xfrm>
            <a:off x="5835725" y="3701375"/>
            <a:ext cx="632400" cy="275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71dc8c5e98_0_256"/>
          <p:cNvSpPr/>
          <p:nvPr/>
        </p:nvSpPr>
        <p:spPr>
          <a:xfrm>
            <a:off x="5187112" y="5614487"/>
            <a:ext cx="632400" cy="275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271dc8c5e98_0_256"/>
          <p:cNvSpPr txBox="1"/>
          <p:nvPr/>
        </p:nvSpPr>
        <p:spPr>
          <a:xfrm>
            <a:off x="5819500" y="3895925"/>
            <a:ext cx="466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include the pretrained evaluator (classifier) here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271dc8c5e98_0_256"/>
          <p:cNvSpPr txBox="1"/>
          <p:nvPr/>
        </p:nvSpPr>
        <p:spPr>
          <a:xfrm>
            <a:off x="5778975" y="5552225"/>
            <a:ext cx="466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include the pretrained evaluator (classifier) here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1dc8c5e98_0_307"/>
          <p:cNvSpPr/>
          <p:nvPr/>
        </p:nvSpPr>
        <p:spPr>
          <a:xfrm>
            <a:off x="1219320" y="274680"/>
            <a:ext cx="103620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Simple suggestions (in the other PDF)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271dc8c5e98_0_3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900" y="2251049"/>
            <a:ext cx="8628501" cy="28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71dc8c5e98_0_301"/>
          <p:cNvSpPr txBox="1">
            <a:spLocks noGrp="1"/>
          </p:cNvSpPr>
          <p:nvPr>
            <p:ph type="ctrTitle"/>
          </p:nvPr>
        </p:nvSpPr>
        <p:spPr>
          <a:xfrm>
            <a:off x="239349" y="1988840"/>
            <a:ext cx="11809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Scoring criteria</a:t>
            </a:r>
            <a:endParaRPr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7feb24d4d9_0_14"/>
          <p:cNvSpPr/>
          <p:nvPr/>
        </p:nvSpPr>
        <p:spPr>
          <a:xfrm>
            <a:off x="1219320" y="274680"/>
            <a:ext cx="103620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Scoring criteria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27feb24d4d9_0_14"/>
          <p:cNvSpPr/>
          <p:nvPr/>
        </p:nvSpPr>
        <p:spPr>
          <a:xfrm>
            <a:off x="1219320" y="1447920"/>
            <a:ext cx="10362000" cy="45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 (60%)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(5%)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 details (2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■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Describe how you implement your model, including your choice of DDPM, noise schedule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(There is no demo in this lab, so please write in detail.)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 and discussion (3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your synthetic image grids (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16%: 8% * 2 testing data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and a denoising process image (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%) 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 of your extra implementations or experiments (10%) 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1219320" y="274680"/>
            <a:ext cx="1036188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Scoring criteria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1219320" y="1447920"/>
            <a:ext cx="10361880" cy="45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 (40%) (based on results shown in your report)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Classification accuracy on test.json and new_test.json.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your accuracy screenshots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command for inference process(save the synthetic images)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(Please make sure TA can understand how to run your inference code)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0% * 2 testing data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5488" y="3637000"/>
            <a:ext cx="4395925" cy="30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/>
          <p:nvPr/>
        </p:nvSpPr>
        <p:spPr>
          <a:xfrm>
            <a:off x="1219320" y="274680"/>
            <a:ext cx="1036188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Model Weight Upload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219320" y="1447920"/>
            <a:ext cx="10361880" cy="45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●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Weight upload link： </a:t>
            </a: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Link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●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Notice：Please name your model weight as    “DL_lab6_YourStudentID_Name.pth”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e.g.”DL_lab6_ 313553051_楊賀弼.pth”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C4125"/>
              </a:buClr>
              <a:buSzPts val="2600"/>
              <a:buFont typeface="Calibri"/>
              <a:buChar char="●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The deadline for uploading model weight is the same as the lab.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425471" y="693650"/>
            <a:ext cx="2604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 </a:t>
            </a:r>
            <a:endParaRPr sz="4000" b="1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0375" y="223460"/>
            <a:ext cx="8550824" cy="6411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726</Words>
  <Application>Microsoft Office PowerPoint</Application>
  <PresentationFormat>寬螢幕</PresentationFormat>
  <Paragraphs>116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18</vt:i4>
      </vt:variant>
    </vt:vector>
  </HeadingPairs>
  <TitlesOfParts>
    <vt:vector size="26" baseType="lpstr">
      <vt:lpstr>Libre Franklin</vt:lpstr>
      <vt:lpstr>Times New Roman</vt:lpstr>
      <vt:lpstr>Times</vt:lpstr>
      <vt:lpstr>Arial</vt:lpstr>
      <vt:lpstr>Calibri</vt:lpstr>
      <vt:lpstr>Libre Baskerville</vt:lpstr>
      <vt:lpstr>Office Theme</vt:lpstr>
      <vt:lpstr>Office Theme</vt:lpstr>
      <vt:lpstr>PowerPoint 簡報</vt:lpstr>
      <vt:lpstr>PowerPoint 簡報</vt:lpstr>
      <vt:lpstr>PowerPoint 簡報</vt:lpstr>
      <vt:lpstr>Lab description</vt:lpstr>
      <vt:lpstr>PowerPoint 簡報</vt:lpstr>
      <vt:lpstr>PowerPoint 簡報</vt:lpstr>
      <vt:lpstr>PowerPoint 簡報</vt:lpstr>
      <vt:lpstr>PowerPoint 簡報</vt:lpstr>
      <vt:lpstr>Implement a conditional DDPM</vt:lpstr>
      <vt:lpstr>PowerPoint 簡報</vt:lpstr>
      <vt:lpstr>PowerPoint 簡報</vt:lpstr>
      <vt:lpstr>PowerPoint 簡報</vt:lpstr>
      <vt:lpstr>PowerPoint 簡報</vt:lpstr>
      <vt:lpstr>Scoring criteria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jiajun zhong</dc:creator>
  <cp:lastModifiedBy>賀弼 楊</cp:lastModifiedBy>
  <cp:revision>2</cp:revision>
  <dcterms:created xsi:type="dcterms:W3CDTF">2019-01-24T07:30:16Z</dcterms:created>
  <dcterms:modified xsi:type="dcterms:W3CDTF">2024-08-13T08:34:25Z</dcterms:modified>
</cp:coreProperties>
</file>